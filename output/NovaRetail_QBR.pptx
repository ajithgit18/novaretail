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k_title"/>
          <p:cNvSpPr txBox="1"/>
          <p:nvPr/>
        </p:nvSpPr>
        <p:spPr>
          <a:xfrm>
            <a:off x="548640" y="4572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NovaRetail — Quarterly Business Review</a:t>
            </a:r>
            <a:endParaRPr lang="en-US" sz="3200" dirty="0"/>
          </a:p>
        </p:txBody>
      </p:sp>
      <p:sp>
        <p:nvSpPr>
          <p:cNvPr id="3" name="subtitle_1"/>
          <p:cNvSpPr txBox="1"/>
          <p:nvPr/>
        </p:nvSpPr>
        <p:spPr>
          <a:xfrm>
            <a:off x="548640" y="107899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400" b="0">
                <a:solidFill>
                  <a:srgbClr val="CADCFC"/>
                </a:solidFill>
              </a:rPr>
              <a:t>Q2 2026 Executive Review</a:t>
            </a:r>
          </a:p>
        </p:txBody>
      </p:sp>
      <p:sp>
        <p:nvSpPr>
          <p:cNvPr id="4" name="kpi1_box"/>
          <p:cNvSpPr/>
          <p:nvPr/>
        </p:nvSpPr>
        <p:spPr>
          <a:xfrm>
            <a:off x="548640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5" name="kpi1_value"/>
          <p:cNvSpPr txBox="1"/>
          <p:nvPr/>
        </p:nvSpPr>
        <p:spPr>
          <a:xfrm>
            <a:off x="685800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$1.28B</a:t>
            </a:r>
          </a:p>
        </p:txBody>
      </p:sp>
      <p:sp>
        <p:nvSpPr>
          <p:cNvPr id="6" name="kpi1_label"/>
          <p:cNvSpPr txBox="1"/>
          <p:nvPr/>
        </p:nvSpPr>
        <p:spPr>
          <a:xfrm>
            <a:off x="685800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CADCFC"/>
                </a:solidFill>
              </a:rPr>
              <a:t>Total Revenue</a:t>
            </a:r>
          </a:p>
        </p:txBody>
      </p:sp>
      <p:sp>
        <p:nvSpPr>
          <p:cNvPr id="7" name="kpi2_box"/>
          <p:cNvSpPr/>
          <p:nvPr/>
        </p:nvSpPr>
        <p:spPr>
          <a:xfrm>
            <a:off x="4367784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8" name="kpi2_value"/>
          <p:cNvSpPr txBox="1"/>
          <p:nvPr/>
        </p:nvSpPr>
        <p:spPr>
          <a:xfrm>
            <a:off x="4504944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8.2%</a:t>
            </a:r>
          </a:p>
        </p:txBody>
      </p:sp>
      <p:sp>
        <p:nvSpPr>
          <p:cNvPr id="9" name="kpi2_label"/>
          <p:cNvSpPr txBox="1"/>
          <p:nvPr/>
        </p:nvSpPr>
        <p:spPr>
          <a:xfrm>
            <a:off x="4504944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CADCFC"/>
                </a:solidFill>
              </a:rPr>
              <a:t>Fastest Regional QoQ Growth</a:t>
            </a:r>
          </a:p>
        </p:txBody>
      </p:sp>
      <p:sp>
        <p:nvSpPr>
          <p:cNvPr id="10" name="kpi3_box"/>
          <p:cNvSpPr/>
          <p:nvPr/>
        </p:nvSpPr>
        <p:spPr>
          <a:xfrm>
            <a:off x="8186928" y="1874520"/>
            <a:ext cx="3453384" cy="1417320"/>
          </a:xfrm>
          <a:prstGeom prst="roundRect">
            <a:avLst>
              <a:gd name="adj" fmla="val 3871"/>
            </a:avLst>
          </a:prstGeom>
          <a:solidFill>
            <a:srgbClr val="14193F"/>
          </a:solidFill>
          <a:ln/>
        </p:spPr>
      </p:sp>
      <p:sp>
        <p:nvSpPr>
          <p:cNvPr id="11" name="kpi3_value"/>
          <p:cNvSpPr txBox="1"/>
          <p:nvPr/>
        </p:nvSpPr>
        <p:spPr>
          <a:xfrm>
            <a:off x="8324088" y="2039112"/>
            <a:ext cx="3179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3200" b="1">
                <a:solidFill>
                  <a:srgbClr val="FFFFFF"/>
                </a:solidFill>
              </a:rPr>
              <a:t>62</a:t>
            </a:r>
          </a:p>
        </p:txBody>
      </p:sp>
      <p:sp>
        <p:nvSpPr>
          <p:cNvPr id="12" name="kpi3_label"/>
          <p:cNvSpPr txBox="1"/>
          <p:nvPr/>
        </p:nvSpPr>
        <p:spPr>
          <a:xfrm>
            <a:off x="8324088" y="2743200"/>
            <a:ext cx="3179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CADCFC"/>
                </a:solidFill>
              </a:rPr>
              <a:t>Highest Regional NPS</a:t>
            </a:r>
          </a:p>
        </p:txBody>
      </p:sp>
      <p:sp>
        <p:nvSpPr>
          <p:cNvPr id="13" name="summary_label"/>
          <p:cNvSpPr txBox="1"/>
          <p:nvPr/>
        </p:nvSpPr>
        <p:spPr>
          <a:xfrm>
            <a:off x="548640" y="352044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300" dirty="0"/>
          </a:p>
        </p:txBody>
      </p:sp>
      <p:sp>
        <p:nvSpPr>
          <p:cNvPr id="14" name="summary_text"/>
          <p:cNvSpPr txBox="1"/>
          <p:nvPr/>
        </p:nvSpPr>
        <p:spPr>
          <a:xfrm>
            <a:off x="548640" y="3886200"/>
            <a:ext cx="9235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500" b="0">
                <a:solidFill>
                  <a:srgbClr val="FFFFFF"/>
                </a:solidFill>
              </a:rPr>
              <a:t>NovaRetail delivered strong Q2 2026 performance with $1.28B in revenue. North America remained the largest revenue region at $465M. APAC achieved the fastest quarter-over-quarter growth of 8.2% and recorded the highest NPS of 62. Latin America remains the most significant operational risk area and requires focused leadership attention.</a:t>
            </a:r>
          </a:p>
        </p:txBody>
      </p:sp>
      <p:pic>
        <p:nvPicPr>
          <p:cNvPr id="19" name="Picture 18" descr="globe_reg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0" y="3886200"/>
            <a:ext cx="1581912" cy="15819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2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APAC Drives Q2 2026 Revenue Growth as Global Total Reaches $1.28B</a:t>
            </a:r>
          </a:p>
        </p:txBody>
      </p:sp>
      <p:sp>
        <p:nvSpPr>
          <p:cNvPr id="5" name="insights_performance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Total revenue for Q2 2026 reached $1.28B across all operational regions.</a:t>
            </a:r>
          </a:p>
          <a:p>
            <a:r>
              <a:t>- North America generated $465M in revenue, maintaining its status as the largest revenue market.</a:t>
            </a:r>
          </a:p>
          <a:p>
            <a:r>
              <a:t>- APAC recorded the fastest revenue growth rate with an 8.2% quarter-over-quarter increase.</a:t>
            </a:r>
          </a:p>
          <a:p>
            <a:r>
              <a:t>- Strong sales volumes across regions supported overall quarterly commercial performance.</a:t>
            </a:r>
          </a:p>
        </p:txBody>
      </p:sp>
      <p:pic>
        <p:nvPicPr>
          <p:cNvPr id="10" name="Picture 9" descr="revenu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growth_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3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APAC Leads Customer Satisfaction Benchmarks While Latin America Lags</a:t>
            </a:r>
          </a:p>
        </p:txBody>
      </p:sp>
      <p:sp>
        <p:nvSpPr>
          <p:cNvPr id="5" name="insights_customer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APAC recorded the highest customer satisfaction scores with an NPS of 62 and a 92% CSAT rating.</a:t>
            </a:r>
          </a:p>
          <a:p>
            <a:r>
              <a:t>- Rapid fulfillment supported high customer sentiment in APAC, where delivery averaged 2.2 days.</a:t>
            </a:r>
          </a:p>
          <a:p>
            <a:r>
              <a:t>- Latin America registered the lowest customer satisfaction scores with an NPS of 29 and a 74% CSAT rating.</a:t>
            </a:r>
          </a:p>
          <a:p>
            <a:r>
              <a:t>- Fulfillment bottlenecks in Latin America contributed to a 7.5-day average delivery time and 31k support tickets.</a:t>
            </a:r>
          </a:p>
        </p:txBody>
      </p:sp>
      <p:pic>
        <p:nvPicPr>
          <p:cNvPr id="10" name="Picture 9" descr="nps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customer_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4"/>
          <p:cNvSpPr txBox="1"/>
          <p:nvPr/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Latin America Logistics Risks Rise as APAC Nears Full Warehouse Capacity</a:t>
            </a:r>
          </a:p>
        </p:txBody>
      </p:sp>
      <p:sp>
        <p:nvSpPr>
          <p:cNvPr id="5" name="insights_risk"/>
          <p:cNvSpPr txBox="1"/>
          <p:nvPr/>
        </p:nvSpPr>
        <p:spPr>
          <a:xfrm>
            <a:off x="7543800" y="1417320"/>
            <a:ext cx="409651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t>- Latin America encountered the highest inventory risk with a peak stockout rate of 12.5%.</a:t>
            </a:r>
          </a:p>
          <a:p>
            <a:r>
              <a:t>- Security vulnerabilities were highest in Latin America, which reported 30 fraud incidents in Q2 2026.</a:t>
            </a:r>
          </a:p>
          <a:p>
            <a:r>
              <a:t>- Operational processing delays extended return processing times to 10 days in Latin America.</a:t>
            </a:r>
          </a:p>
          <a:p>
            <a:r>
              <a:t>- Logistics facilities in APAC faced operational pressure, reaching 92% warehouse capacity utilization.</a:t>
            </a:r>
          </a:p>
        </p:txBody>
      </p:sp>
      <p:pic>
        <p:nvPicPr>
          <p:cNvPr id="10" name="Picture 9" descr="ris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7320"/>
            <a:ext cx="6675120" cy="4800600"/>
          </a:xfrm>
          <a:prstGeom prst="rect">
            <a:avLst/>
          </a:prstGeom>
        </p:spPr>
      </p:pic>
      <p:pic>
        <p:nvPicPr>
          <p:cNvPr id="11" name="Picture 10" descr="risk_ale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5166360"/>
            <a:ext cx="132588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5"/>
          <p:cNvSpPr txBox="1"/>
          <p:nvPr/>
        </p:nvSpPr>
        <p:spPr>
          <a:xfrm>
            <a:off x="548640" y="4572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Recommended Actions &amp; Next Steps</a:t>
            </a:r>
            <a:endParaRPr lang="en-US" sz="2800" dirty="0"/>
          </a:p>
        </p:txBody>
      </p:sp>
      <p:sp>
        <p:nvSpPr>
          <p:cNvPr id="3" name="recommendations_text"/>
          <p:cNvSpPr txBox="1"/>
          <p:nvPr/>
        </p:nvSpPr>
        <p:spPr>
          <a:xfrm>
            <a:off x="548640" y="1463040"/>
            <a:ext cx="66751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400" b="0">
                <a:solidFill>
                  <a:srgbClr val="FFFFFF"/>
                </a:solidFill>
              </a:rPr>
              <a:t>1. Expand warehouse capacity and logistics infrastructure in APAC to support 8.2% quarter-over-quarter growth and relieve 92% capacity utilization.</a:t>
            </a:r>
          </a:p>
          <a:p/>
          <a:p>
            <a:r>
              <a:rPr sz="1400" b="0">
                <a:solidFill>
                  <a:srgbClr val="FFFFFF"/>
                </a:solidFill>
              </a:rPr>
              <a:t>2. Optimize fulfillment operations in Latin America to reduce the 7.5-day delivery timeline and lower the 31k support ticket volume.</a:t>
            </a:r>
          </a:p>
          <a:p/>
          <a:p>
            <a:r>
              <a:rPr sz="1400" b="0">
                <a:solidFill>
                  <a:srgbClr val="FFFFFF"/>
                </a:solidFill>
              </a:rPr>
              <a:t>3. Enhance inventory tracking in Latin America to mitigate the 12.5% stockout rate and shorten 10-day return processing times.</a:t>
            </a:r>
          </a:p>
          <a:p/>
          <a:p>
            <a:r>
              <a:rPr sz="1400" b="0">
                <a:solidFill>
                  <a:srgbClr val="FFFFFF"/>
                </a:solidFill>
              </a:rPr>
              <a:t>4. Implement targeted fraud detection protocols in Latin America to address the 30 fraud incidents logged during Q2 2026.</a:t>
            </a:r>
          </a:p>
        </p:txBody>
      </p:sp>
      <p:sp>
        <p:nvSpPr>
          <p:cNvPr id="6" name="closing_statement"/>
          <p:cNvSpPr txBox="1"/>
          <p:nvPr/>
        </p:nvSpPr>
        <p:spPr>
          <a:xfrm>
            <a:off x="548640" y="58978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ADCFC"/>
                </a:solidFill>
              </a:rPr>
              <a:t>Addressing supply chain friction in Latin America while expanding capacity in high-growth APAC will ensure NovaRetail maintains sustainable growth and service excellence.</a:t>
            </a:r>
          </a:p>
        </p:txBody>
      </p:sp>
      <p:pic>
        <p:nvPicPr>
          <p:cNvPr id="9" name="Picture 8" descr="lightbulb_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463040"/>
            <a:ext cx="146304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2026-10-05T14:35:45Z</dcterms:created>
  <dcterms:modified xsi:type="dcterms:W3CDTF">2026-10-05T14:35:45Z</dcterms:modified>
</cp:coreProperties>
</file>